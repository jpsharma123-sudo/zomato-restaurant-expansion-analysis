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236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rishna%20ji\Downloads\Zomato_Restaurant_Expansion_Analysis_Country_Wise%20by%20Jp\Template%20(Zomato)%20(1)%20by%20jai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rishna%20ji\Downloads\Zomato_Restaurant_Expansion_Analysis_Country_Wise%20by%20Jp\Template%20(Zomato)%20(1)%20by%20jai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rishna%20ji\Downloads\Zomato_Restaurant_Expansion_Analysis_Country_Wise%20by%20Jp\Template%20(Zomato)%20(1)%20by%20jai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rishna%20ji\Downloads\Zomato_Restaurant_Expansion_Analysis_Country_Wise%20by%20Jp\Template%20(Zomato)%20(1)%20by%20jai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rishna%20ji\Downloads\Zomato_Restaurant_Expansion_Analysis_Country_Wise%20by%20Jp\Template%20(Zomato)%20(1)%20by%20jai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rishna%20ji\Downloads\Zomato_Restaurant_Expansion_Analysis_Country_Wise%20by%20Jp\Template%20(Zomato)%20(1)%20by%20jai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rishna%20ji\Downloads\Zomato_Restaurant_Expansion_Analysis_Country_Wise%20by%20Jp\Template%20(Zomato)%20(1)%20by%20jai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(Zomato) (1) by jai.xlsx]Sheet3!PivotTable2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Country wise Restaurant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Sheet3!$B$3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Sheet3!$A$4:$A$19</c:f>
              <c:strCache>
                <c:ptCount val="15"/>
                <c:pt idx="0">
                  <c:v>Australia</c:v>
                </c:pt>
                <c:pt idx="1">
                  <c:v>Brazil</c:v>
                </c:pt>
                <c:pt idx="2">
                  <c:v>Canada</c:v>
                </c:pt>
                <c:pt idx="3">
                  <c:v>India</c:v>
                </c:pt>
                <c:pt idx="4">
                  <c:v>Indonesia</c:v>
                </c:pt>
                <c:pt idx="5">
                  <c:v>New Zealand</c:v>
                </c:pt>
                <c:pt idx="6">
                  <c:v>Philippines</c:v>
                </c:pt>
                <c:pt idx="7">
                  <c:v>Qatar</c:v>
                </c:pt>
                <c:pt idx="8">
                  <c:v>Singapore</c:v>
                </c:pt>
                <c:pt idx="9">
                  <c:v>South Africa</c:v>
                </c:pt>
                <c:pt idx="10">
                  <c:v>Sri Lanka</c:v>
                </c:pt>
                <c:pt idx="11">
                  <c:v>Turkey</c:v>
                </c:pt>
                <c:pt idx="12">
                  <c:v>United Arab Emirates</c:v>
                </c:pt>
                <c:pt idx="13">
                  <c:v>United Kingdom</c:v>
                </c:pt>
                <c:pt idx="14">
                  <c:v>United States of America</c:v>
                </c:pt>
              </c:strCache>
            </c:strRef>
          </c:cat>
          <c:val>
            <c:numRef>
              <c:f>Sheet3!$B$4:$B$19</c:f>
              <c:numCache>
                <c:formatCode>General</c:formatCode>
                <c:ptCount val="15"/>
                <c:pt idx="0">
                  <c:v>24</c:v>
                </c:pt>
                <c:pt idx="1">
                  <c:v>60</c:v>
                </c:pt>
                <c:pt idx="2">
                  <c:v>4</c:v>
                </c:pt>
                <c:pt idx="3">
                  <c:v>8652</c:v>
                </c:pt>
                <c:pt idx="4">
                  <c:v>21</c:v>
                </c:pt>
                <c:pt idx="5">
                  <c:v>40</c:v>
                </c:pt>
                <c:pt idx="6">
                  <c:v>22</c:v>
                </c:pt>
                <c:pt idx="7">
                  <c:v>20</c:v>
                </c:pt>
                <c:pt idx="8">
                  <c:v>20</c:v>
                </c:pt>
                <c:pt idx="9">
                  <c:v>60</c:v>
                </c:pt>
                <c:pt idx="10">
                  <c:v>20</c:v>
                </c:pt>
                <c:pt idx="11">
                  <c:v>34</c:v>
                </c:pt>
                <c:pt idx="12">
                  <c:v>60</c:v>
                </c:pt>
                <c:pt idx="13">
                  <c:v>80</c:v>
                </c:pt>
                <c:pt idx="14">
                  <c:v>434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93-42EB-B441-776828AB1E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187274719"/>
        <c:axId val="1187283359"/>
      </c:barChart>
      <c:catAx>
        <c:axId val="118727471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Country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7283359"/>
        <c:crosses val="autoZero"/>
        <c:auto val="1"/>
        <c:lblAlgn val="ctr"/>
        <c:lblOffset val="100"/>
        <c:noMultiLvlLbl val="0"/>
      </c:catAx>
      <c:valAx>
        <c:axId val="11872833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Number of</a:t>
                </a:r>
                <a:r>
                  <a:rPr lang="en-IN" baseline="0"/>
                  <a:t> Restaurants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7274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(Zomato) (1) by jai.xlsx]Q-7 I Objective!PivotTable22</c:name>
    <c:fmtId val="3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Count of Restaurants Per Year</a:t>
            </a:r>
          </a:p>
        </c:rich>
      </c:tx>
      <c:layout>
        <c:manualLayout>
          <c:xMode val="edge"/>
          <c:yMode val="edge"/>
          <c:x val="0.29364536329510538"/>
          <c:y val="5.00963543144309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698558380839338E-2"/>
          <c:y val="0.18228640246579658"/>
          <c:w val="0.79883686952923993"/>
          <c:h val="0.6126319884186695"/>
        </c:manualLayout>
      </c:layout>
      <c:lineChart>
        <c:grouping val="standard"/>
        <c:varyColors val="0"/>
        <c:ser>
          <c:idx val="0"/>
          <c:order val="0"/>
          <c:tx>
            <c:strRef>
              <c:f>'Q-7 I Objective'!$C$8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'Q-7 I Objective'!$B$9:$B$17</c:f>
              <c:strCache>
                <c:ptCount val="9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</c:strCache>
            </c:strRef>
          </c:cat>
          <c:val>
            <c:numRef>
              <c:f>'Q-7 I Objective'!$C$9:$C$17</c:f>
              <c:numCache>
                <c:formatCode>General</c:formatCode>
                <c:ptCount val="9"/>
                <c:pt idx="0">
                  <c:v>1080</c:v>
                </c:pt>
                <c:pt idx="1">
                  <c:v>1098</c:v>
                </c:pt>
                <c:pt idx="2">
                  <c:v>1022</c:v>
                </c:pt>
                <c:pt idx="3">
                  <c:v>1061</c:v>
                </c:pt>
                <c:pt idx="4">
                  <c:v>1051</c:v>
                </c:pt>
                <c:pt idx="5">
                  <c:v>1024</c:v>
                </c:pt>
                <c:pt idx="6">
                  <c:v>1027</c:v>
                </c:pt>
                <c:pt idx="7">
                  <c:v>1086</c:v>
                </c:pt>
                <c:pt idx="8">
                  <c:v>1102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805-4111-B1F7-49F5A67EB2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2361968"/>
        <c:axId val="132360304"/>
      </c:lineChart>
      <c:catAx>
        <c:axId val="1323619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360304"/>
        <c:crosses val="autoZero"/>
        <c:auto val="1"/>
        <c:lblAlgn val="ctr"/>
        <c:lblOffset val="100"/>
        <c:noMultiLvlLbl val="0"/>
      </c:catAx>
      <c:valAx>
        <c:axId val="1323603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Restaurants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361968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(Zomato) (1) by jai.xlsx]Q-9 I Subjective!PivotTable4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Restaurant Distribution by Price Range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'Q-9 I Subjective'!$C$7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'Q-9 I Subjective'!$B$8:$B$10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'Q-9 I Subjective'!$C$8:$C$10</c:f>
              <c:numCache>
                <c:formatCode>General</c:formatCode>
                <c:ptCount val="3"/>
                <c:pt idx="0">
                  <c:v>6074</c:v>
                </c:pt>
                <c:pt idx="1">
                  <c:v>2893</c:v>
                </c:pt>
                <c:pt idx="2">
                  <c:v>584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03-4D15-86C0-4A9CFC8023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2354480"/>
        <c:axId val="132366544"/>
      </c:barChart>
      <c:catAx>
        <c:axId val="13235448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Price</a:t>
                </a:r>
                <a:r>
                  <a:rPr lang="en-IN" baseline="0"/>
                  <a:t> Range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366544"/>
        <c:crosses val="autoZero"/>
        <c:auto val="1"/>
        <c:lblAlgn val="ctr"/>
        <c:lblOffset val="100"/>
        <c:noMultiLvlLbl val="0"/>
      </c:catAx>
      <c:valAx>
        <c:axId val="1323665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Number of</a:t>
                </a:r>
                <a:r>
                  <a:rPr lang="en-IN" baseline="0"/>
                  <a:t> restaurants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354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Country - Wise  Average Rating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'Q-3 I Subjective '!$C$7</c:f>
              <c:strCache>
                <c:ptCount val="1"/>
                <c:pt idx="0">
                  <c:v>Average of Rating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'Q-3 I Subjective '!$A$8:$B$16</c:f>
              <c:strCache>
                <c:ptCount val="9"/>
                <c:pt idx="0">
                  <c:v>Australia</c:v>
                </c:pt>
                <c:pt idx="1">
                  <c:v>Brazil</c:v>
                </c:pt>
                <c:pt idx="2">
                  <c:v>Canada</c:v>
                </c:pt>
                <c:pt idx="3">
                  <c:v>India</c:v>
                </c:pt>
                <c:pt idx="4">
                  <c:v>Indonesia</c:v>
                </c:pt>
                <c:pt idx="5">
                  <c:v>New Zealand</c:v>
                </c:pt>
                <c:pt idx="6">
                  <c:v>Philippines</c:v>
                </c:pt>
                <c:pt idx="7">
                  <c:v>Qatar</c:v>
                </c:pt>
                <c:pt idx="8">
                  <c:v>Singapore</c:v>
                </c:pt>
              </c:strCache>
            </c:strRef>
          </c:cat>
          <c:val>
            <c:numRef>
              <c:f>'Q-3 I Subjective '!$C$8:$C$16</c:f>
              <c:numCache>
                <c:formatCode>0.0</c:formatCode>
                <c:ptCount val="9"/>
                <c:pt idx="0">
                  <c:v>3.6583333333333337</c:v>
                </c:pt>
                <c:pt idx="1">
                  <c:v>3.8466666666666667</c:v>
                </c:pt>
                <c:pt idx="2">
                  <c:v>3.5750000000000002</c:v>
                </c:pt>
                <c:pt idx="3">
                  <c:v>2.7705501618122987</c:v>
                </c:pt>
                <c:pt idx="4">
                  <c:v>4.295238095238096</c:v>
                </c:pt>
                <c:pt idx="5">
                  <c:v>4.2624999999999993</c:v>
                </c:pt>
                <c:pt idx="6">
                  <c:v>4.4681818181818187</c:v>
                </c:pt>
                <c:pt idx="7">
                  <c:v>4.0599999999999996</c:v>
                </c:pt>
                <c:pt idx="8">
                  <c:v>3.5750000000000002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A4-4051-8915-76176E5332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77726240"/>
        <c:axId val="277729152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'Q-3 I Subjective '!$D$7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'Q-3 I Subjective '!$A$8:$B$16</c15:sqref>
                        </c15:formulaRef>
                      </c:ext>
                    </c:extLst>
                    <c:strCache>
                      <c:ptCount val="9"/>
                      <c:pt idx="0">
                        <c:v>Australia</c:v>
                      </c:pt>
                      <c:pt idx="1">
                        <c:v>Brazil</c:v>
                      </c:pt>
                      <c:pt idx="2">
                        <c:v>Canada</c:v>
                      </c:pt>
                      <c:pt idx="3">
                        <c:v>India</c:v>
                      </c:pt>
                      <c:pt idx="4">
                        <c:v>Indonesia</c:v>
                      </c:pt>
                      <c:pt idx="5">
                        <c:v>New Zealand</c:v>
                      </c:pt>
                      <c:pt idx="6">
                        <c:v>Philippines</c:v>
                      </c:pt>
                      <c:pt idx="7">
                        <c:v>Qatar</c:v>
                      </c:pt>
                      <c:pt idx="8">
                        <c:v>Singapore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'Q-3 I Subjective '!$D$8:$D$16</c15:sqref>
                        </c15:formulaRef>
                      </c:ext>
                    </c:extLst>
                    <c:numCache>
                      <c:formatCode>General</c:formatCode>
                      <c:ptCount val="9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EBA4-4051-8915-76176E53322B}"/>
                  </c:ext>
                </c:extLst>
              </c15:ser>
            </c15:filteredBarSeries>
          </c:ext>
        </c:extLst>
      </c:barChart>
      <c:catAx>
        <c:axId val="2777262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Country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7729152"/>
        <c:crosses val="autoZero"/>
        <c:auto val="1"/>
        <c:lblAlgn val="ctr"/>
        <c:lblOffset val="100"/>
        <c:noMultiLvlLbl val="0"/>
      </c:catAx>
      <c:valAx>
        <c:axId val="277729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Average</a:t>
                </a:r>
                <a:r>
                  <a:rPr lang="en-IN" baseline="0"/>
                  <a:t> Rating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7726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(Zomato) (1) by jai.xlsx]Q-7 I Subjective!PivotTable2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Impact of Delivery &amp; Table Booking on Ratings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'Q-7 I Subjective'!$C$7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'Q-7 I Subjective'!$B$8:$B$13</c:f>
              <c:multiLvlStrCache>
                <c:ptCount val="4"/>
                <c:lvl>
                  <c:pt idx="0">
                    <c:v>No</c:v>
                  </c:pt>
                  <c:pt idx="1">
                    <c:v>Yes</c:v>
                  </c:pt>
                  <c:pt idx="2">
                    <c:v>No</c:v>
                  </c:pt>
                  <c:pt idx="3">
                    <c:v>Yes</c:v>
                  </c:pt>
                </c:lvl>
                <c:lvl>
                  <c:pt idx="0">
                    <c:v>No</c:v>
                  </c:pt>
                  <c:pt idx="2">
                    <c:v>Yes</c:v>
                  </c:pt>
                </c:lvl>
              </c:multiLvlStrCache>
            </c:multiLvlStrRef>
          </c:cat>
          <c:val>
            <c:numRef>
              <c:f>'Q-7 I Subjective'!$C$8:$C$13</c:f>
              <c:numCache>
                <c:formatCode>0.00</c:formatCode>
                <c:ptCount val="4"/>
                <c:pt idx="0">
                  <c:v>2.6797867335737813</c:v>
                </c:pt>
                <c:pt idx="1">
                  <c:v>3.411618257261408</c:v>
                </c:pt>
                <c:pt idx="2">
                  <c:v>3.2205853174603187</c:v>
                </c:pt>
                <c:pt idx="3">
                  <c:v>3.6004597701149414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AA-4FB4-99F8-327BD33C7F8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34866432"/>
        <c:axId val="134868928"/>
      </c:barChart>
      <c:catAx>
        <c:axId val="1348664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Online</a:t>
                </a:r>
                <a:r>
                  <a:rPr lang="en-IN" baseline="0"/>
                  <a:t> Delievery and Table Booking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868928"/>
        <c:crosses val="autoZero"/>
        <c:auto val="1"/>
        <c:lblAlgn val="ctr"/>
        <c:lblOffset val="100"/>
        <c:noMultiLvlLbl val="0"/>
      </c:catAx>
      <c:valAx>
        <c:axId val="134868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Average</a:t>
                </a:r>
                <a:r>
                  <a:rPr lang="en-IN" baseline="0"/>
                  <a:t> Rating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866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(Zomato) (1) by jai.xlsx]Q-6 I Subjective!PivotTable1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b="1"/>
              <a:t>Best Performing Cuisines for New Restaurants</a:t>
            </a:r>
          </a:p>
        </c:rich>
      </c:tx>
      <c:layout>
        <c:manualLayout>
          <c:xMode val="edge"/>
          <c:yMode val="edge"/>
          <c:x val="0.16649618663077614"/>
          <c:y val="2.346041778016418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cap="none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'Q-6 I Subjective'!$C$7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'Q-6 I Subjective'!$B$8:$B$21</c:f>
              <c:strCache>
                <c:ptCount val="14"/>
                <c:pt idx="0">
                  <c:v>African</c:v>
                </c:pt>
                <c:pt idx="1">
                  <c:v>German</c:v>
                </c:pt>
                <c:pt idx="2">
                  <c:v>Australian</c:v>
                </c:pt>
                <c:pt idx="3">
                  <c:v>Arabian</c:v>
                </c:pt>
                <c:pt idx="4">
                  <c:v>Bengali</c:v>
                </c:pt>
                <c:pt idx="5">
                  <c:v>Continental</c:v>
                </c:pt>
                <c:pt idx="6">
                  <c:v>European</c:v>
                </c:pt>
                <c:pt idx="7">
                  <c:v>Asian</c:v>
                </c:pt>
                <c:pt idx="8">
                  <c:v>Desserts</c:v>
                </c:pt>
                <c:pt idx="9">
                  <c:v>Fast Food</c:v>
                </c:pt>
                <c:pt idx="10">
                  <c:v>Chinese</c:v>
                </c:pt>
                <c:pt idx="11">
                  <c:v>Bakery</c:v>
                </c:pt>
                <c:pt idx="12">
                  <c:v>Drinks Only</c:v>
                </c:pt>
                <c:pt idx="13">
                  <c:v>Afghani</c:v>
                </c:pt>
              </c:strCache>
            </c:strRef>
          </c:cat>
          <c:val>
            <c:numRef>
              <c:f>'Q-6 I Subjective'!$C$8:$C$21</c:f>
              <c:numCache>
                <c:formatCode>0.00</c:formatCode>
                <c:ptCount val="14"/>
                <c:pt idx="0">
                  <c:v>4.7</c:v>
                </c:pt>
                <c:pt idx="1">
                  <c:v>4.166666666666667</c:v>
                </c:pt>
                <c:pt idx="2">
                  <c:v>4.0999999999999996</c:v>
                </c:pt>
                <c:pt idx="3">
                  <c:v>3.7</c:v>
                </c:pt>
                <c:pt idx="4">
                  <c:v>3.6199999999999997</c:v>
                </c:pt>
                <c:pt idx="5">
                  <c:v>3.6142857142857148</c:v>
                </c:pt>
                <c:pt idx="6">
                  <c:v>3.4571428571428569</c:v>
                </c:pt>
                <c:pt idx="7">
                  <c:v>3.4222222222222225</c:v>
                </c:pt>
                <c:pt idx="8">
                  <c:v>2.9603773584905659</c:v>
                </c:pt>
                <c:pt idx="9">
                  <c:v>2.4742937853107345</c:v>
                </c:pt>
                <c:pt idx="10">
                  <c:v>2.4093220338983055</c:v>
                </c:pt>
                <c:pt idx="11">
                  <c:v>2.3279816513761471</c:v>
                </c:pt>
                <c:pt idx="12">
                  <c:v>2.25</c:v>
                </c:pt>
                <c:pt idx="13">
                  <c:v>1.4750000000000001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4A-48F5-AD79-13C7BE01F7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overlap val="-20"/>
        <c:axId val="270889152"/>
        <c:axId val="270888736"/>
      </c:barChart>
      <c:catAx>
        <c:axId val="27088915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 cuiSINES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0888736"/>
        <c:crosses val="autoZero"/>
        <c:auto val="1"/>
        <c:lblAlgn val="ctr"/>
        <c:lblOffset val="100"/>
        <c:noMultiLvlLbl val="0"/>
      </c:catAx>
      <c:valAx>
        <c:axId val="2708887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DDDDDD"/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bg1">
                  <a:alpha val="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Average</a:t>
                </a:r>
                <a:r>
                  <a:rPr lang="en-IN" baseline="0"/>
                  <a:t> rating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0889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[Template (Zomato) (1) by jai.xlsx]Q-5 I Subjective !PivotTable2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5 Competitor Restaurants by Votes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'Q-5 I Subjective '!$C$7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'Q-5 I Subjective '!$B$8:$B$12</c:f>
              <c:strCache>
                <c:ptCount val="5"/>
                <c:pt idx="0">
                  <c:v>Big Brewsky</c:v>
                </c:pt>
                <c:pt idx="1">
                  <c:v>Hauz Khas Social</c:v>
                </c:pt>
                <c:pt idx="2">
                  <c:v>Peter Cat</c:v>
                </c:pt>
                <c:pt idx="3">
                  <c:v>The Black Pearl</c:v>
                </c:pt>
                <c:pt idx="4">
                  <c:v>Toit</c:v>
                </c:pt>
              </c:strCache>
            </c:strRef>
          </c:cat>
          <c:val>
            <c:numRef>
              <c:f>'Q-5 I Subjective '!$C$8:$C$12</c:f>
              <c:numCache>
                <c:formatCode>General</c:formatCode>
                <c:ptCount val="5"/>
                <c:pt idx="0">
                  <c:v>5705</c:v>
                </c:pt>
                <c:pt idx="1">
                  <c:v>7931</c:v>
                </c:pt>
                <c:pt idx="2">
                  <c:v>7574</c:v>
                </c:pt>
                <c:pt idx="3">
                  <c:v>5385</c:v>
                </c:pt>
                <c:pt idx="4">
                  <c:v>10934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21-46E3-AA14-F0A92D0A56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04051600"/>
        <c:axId val="1304052848"/>
      </c:barChart>
      <c:catAx>
        <c:axId val="13040516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Restaurat</a:t>
                </a:r>
                <a:r>
                  <a:rPr lang="en-IN" baseline="0"/>
                  <a:t> Name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4052848"/>
        <c:crosses val="autoZero"/>
        <c:auto val="1"/>
        <c:lblAlgn val="ctr"/>
        <c:lblOffset val="100"/>
        <c:noMultiLvlLbl val="0"/>
      </c:catAx>
      <c:valAx>
        <c:axId val="1304052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Average</a:t>
                </a:r>
                <a:r>
                  <a:rPr lang="en-US" baseline="0"/>
                  <a:t> of Votes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40516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0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2172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669280" y="-731520"/>
            <a:ext cx="4114800" cy="4114800"/>
          </a:xfrm>
          <a:prstGeom prst="ellipse">
            <a:avLst/>
          </a:prstGeom>
          <a:solidFill>
            <a:srgbClr val="E23744">
              <a:alpha val="18000"/>
            </a:srgbClr>
          </a:solidFill>
          <a:ln w="12700">
            <a:solidFill>
              <a:srgbClr val="E2374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0" y="2560320"/>
            <a:ext cx="3200400" cy="3200400"/>
          </a:xfrm>
          <a:prstGeom prst="ellipse">
            <a:avLst/>
          </a:prstGeom>
          <a:solidFill>
            <a:srgbClr val="E23744">
              <a:alpha val="12000"/>
            </a:srgbClr>
          </a:solidFill>
          <a:ln w="12700">
            <a:solidFill>
              <a:srgbClr val="E237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411480"/>
            <a:ext cx="1371600" cy="34747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ZOMATO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Expansion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Market Analysis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Expansion Strategy Using Data Analytics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3154680"/>
            <a:ext cx="4114800" cy="36576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3337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E9E9E"/>
                </a:solidFill>
              </a:rPr>
              <a:t>Prepared by: </a:t>
            </a:r>
            <a:r>
              <a:rPr lang="en-US" sz="1300" b="1" dirty="0">
                <a:solidFill>
                  <a:srgbClr val="FFFFFF"/>
                </a:solidFill>
              </a:rPr>
              <a:t>Jaiprakash Sharma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1520" y="4599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9,551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8646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CCC"/>
                </a:solidFill>
              </a:rPr>
              <a:t>Restaurants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34640" y="4599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834640" y="48646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CCC"/>
                </a:solidFill>
              </a:rPr>
              <a:t>Attributes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4599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15+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48646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CCC"/>
                </a:solidFill>
              </a:rPr>
              <a:t>Countries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40880" y="4599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40880" y="48646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CCC"/>
                </a:solidFill>
              </a:rPr>
              <a:t>Categorical Cols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82880" y="4572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783080"/>
            <a:ext cx="265176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19202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Zomato identify the most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markets for expansion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F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data-driven insights?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49040" y="320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Challenges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749040" y="914400"/>
            <a:ext cx="5212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749040" y="914400"/>
            <a:ext cx="54864" cy="84124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86200" y="9692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</a:rPr>
              <a:t>🌍 Market Uncertainty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86200" y="1216152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</a:rPr>
              <a:t>Zomato needs to strategically enter new global markets without clear data on competition or demand.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49040" y="1920240"/>
            <a:ext cx="5212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749040" y="1920240"/>
            <a:ext cx="54864" cy="84124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86200" y="19751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</a:rPr>
              <a:t>📊 Competition Blind Spots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86200" y="2221992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</a:rPr>
              <a:t>No structured analysis of low-competition cities that offer high growth potential for restaurant expansion.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49040" y="2926080"/>
            <a:ext cx="5212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749040" y="2926080"/>
            <a:ext cx="54864" cy="84124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886200" y="29809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</a:rPr>
              <a:t>💰 Pricing &amp; Cuisine Gaps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3227832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</a:rPr>
              <a:t>Unclear which price ranges and cuisine types drive higher ratings and customer satisfaction globally.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49040" y="3931920"/>
            <a:ext cx="5212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749040" y="3931920"/>
            <a:ext cx="54864" cy="84124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86200" y="39867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</a:rPr>
              <a:t>📱 Digital Adoption Trends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86200" y="4233672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</a:rPr>
              <a:t>Online delivery and table booking trends differ by country — a critical factor for market entry decisions.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594360" cy="100584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3533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</a:rPr>
              <a:t>Market Competition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60934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Identify countries with lower restaurant competition and higher growth potential for new market entry.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5146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" y="2514600"/>
            <a:ext cx="594360" cy="1005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251460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25877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</a:rPr>
              <a:t>Customer Satisfaction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84378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Analyze restaurant ratings and customer votes to gauge satisfaction levels across different countries.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7490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" y="3749040"/>
            <a:ext cx="594360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" y="374904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3822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</a:rPr>
              <a:t>Pricing &amp; Cuisines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07822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Understand the impact of price range and cuisine types on customer experience and ratings.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2801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754880" y="1280160"/>
            <a:ext cx="594360" cy="10058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54880" y="128016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40680" y="13533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</a:rPr>
              <a:t>Digital Trends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160934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Evaluate online delivery and table booking adoption rates to measure digital readiness of markets.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5146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54880" y="2514600"/>
            <a:ext cx="594360" cy="10058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54880" y="251460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40680" y="25877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</a:rPr>
              <a:t>Expansion Strategy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40680" y="284378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Recommend suitable countries and cities for Zomato's restaurant expansion based on data analysis.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AAAAA"/>
                </a:solidFill>
              </a:rPr>
              <a:t>Dataset structure, scope, and preprocessing summary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92024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E23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920240" cy="9144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23744"/>
                </a:solidFill>
              </a:rPr>
              <a:t>9,551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Total Restaurants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188720"/>
            <a:ext cx="192024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450592" y="1188720"/>
            <a:ext cx="192024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50592" y="1280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</a:rPr>
              <a:t>22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50592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Attributes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188720"/>
            <a:ext cx="192024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626864" y="1188720"/>
            <a:ext cx="1920240" cy="914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26864" y="1280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FA5"/>
                </a:solidFill>
              </a:rPr>
              <a:t>14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26864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Categorical Cols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03136" y="1188720"/>
            <a:ext cx="192024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803136" y="1188720"/>
            <a:ext cx="1920240" cy="914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803136" y="1280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B59B6"/>
                </a:solidFill>
              </a:rPr>
              <a:t>15+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803136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</a:rPr>
              <a:t>Countries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2743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3744"/>
                </a:solidFill>
              </a:rPr>
              <a:t>KEY COLUMNS IN DATASET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154680"/>
            <a:ext cx="123444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74320" y="3154680"/>
            <a:ext cx="1234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Restaurant ID &amp; Name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627632" y="3154680"/>
            <a:ext cx="123444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627632" y="3154680"/>
            <a:ext cx="1234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Country Code &amp; City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980944" y="3154680"/>
            <a:ext cx="123444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980944" y="3154680"/>
            <a:ext cx="1234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Cuisines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611880"/>
            <a:ext cx="123444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74320" y="3611880"/>
            <a:ext cx="1234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Price Range (1–4)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627632" y="3611880"/>
            <a:ext cx="123444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627632" y="3611880"/>
            <a:ext cx="1234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Avg Cost for Two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980944" y="3611880"/>
            <a:ext cx="123444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980944" y="3611880"/>
            <a:ext cx="1234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Ratings &amp; Votes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4069080"/>
            <a:ext cx="123444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74320" y="4069080"/>
            <a:ext cx="1234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Online Delivery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627632" y="4069080"/>
            <a:ext cx="123444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627632" y="4069080"/>
            <a:ext cx="1234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Table Booking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980944" y="4069080"/>
            <a:ext cx="123444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980944" y="4069080"/>
            <a:ext cx="1234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Date of Opening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663440" y="2743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A623"/>
                </a:solidFill>
              </a:rPr>
              <a:t>DATA CLEANING STEPS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663440" y="3154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</a:rPr>
              <a:t>✔  Missing cuisines replaced with 'Unknown'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63440" y="34655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</a:rPr>
              <a:t>✔  Duplicate Restaurant IDs checked &amp; resolved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63440" y="37764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</a:rPr>
              <a:t>✔  Invalid coordinates (0,0) flagged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663440" y="40873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</a:rPr>
              <a:t>✔  Country names populated via VLOOKUP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63440" y="43982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</a:rPr>
              <a:t>✔  Price column formatted with currency symbol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63440" y="4709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</a:rPr>
              <a:t>✔  Data standardized for consistent analysis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</a:rPr>
              <a:t>A structured, step-by-step analytical approach using Microsoft Excel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2743200" cy="34747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1 — DATA COLLECTION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93852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</a:rPr>
              <a:t>Imported raw Zomato dataset (9,551 records, 22 attributes) from provided Excel template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17520" y="2148840"/>
            <a:ext cx="164592" cy="7315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18688" y="15544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18688" y="1554480"/>
            <a:ext cx="274320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18688" y="1554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2 — DATA CLEANING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28416" y="193852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</a:rPr>
              <a:t>Handled nulls, duplicates, invalid coordinates, and standardized formats using IF, VLOOKUP functions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61888" y="2148840"/>
            <a:ext cx="164592" cy="7315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163056" y="15544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63056" y="1554480"/>
            <a:ext cx="274320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63056" y="1554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3 — DATA ENRICHMENT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72784" y="193852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</a:rPr>
              <a:t>Added country names via VLOOKUP lookup table; formatted price with currency symbols using TEXT()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2004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74320" y="3200400"/>
            <a:ext cx="2743200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74320" y="3200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4 — PIVOT ANALYSIS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" y="358444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</a:rPr>
              <a:t>Created pivot tables for country-wise, cuisine-wise, rating-wise, and delivery-wise aggregations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017520" y="3794760"/>
            <a:ext cx="164592" cy="7315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218688" y="32004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218688" y="3200400"/>
            <a:ext cx="2743200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18688" y="3200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5 — VISUALIZATION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28416" y="358444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</a:rPr>
              <a:t>Built bar charts, line charts, pie charts, and combo charts from pivot data for insight generation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61888" y="3794760"/>
            <a:ext cx="164592" cy="7315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163056" y="32004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163056" y="3200400"/>
            <a:ext cx="2743200" cy="347472"/>
          </a:xfrm>
          <a:prstGeom prst="rect">
            <a:avLst/>
          </a:prstGeom>
          <a:solidFill>
            <a:srgbClr val="B71C2F"/>
          </a:solidFill>
          <a:ln w="12700">
            <a:solidFill>
              <a:srgbClr val="B71C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163056" y="3200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6 — DASHBOARD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72784" y="358444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</a:rPr>
              <a:t>Assembled interactive Excel dashboard with slicers for country, price range, and cuisine filters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Country-Wise Restaurant Distribution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400800" y="960120"/>
            <a:ext cx="2468880" cy="3474720"/>
          </a:xfrm>
          <a:prstGeom prst="rect">
            <a:avLst/>
          </a:prstGeom>
          <a:solidFill>
            <a:srgbClr val="FDECEA"/>
          </a:solidFill>
          <a:ln w="12700">
            <a:solidFill>
              <a:srgbClr val="FF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9224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3744"/>
                </a:solidFill>
              </a:rPr>
              <a:t>KEY INSIGHTS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92240" y="1508760"/>
            <a:ext cx="22860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</a:rPr>
              <a:t>🇮🇳  India dominates with 8,652 restaurants — over 90% of all records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583680" y="2350008"/>
            <a:ext cx="2011680" cy="18288"/>
          </a:xfrm>
          <a:prstGeom prst="rect">
            <a:avLst/>
          </a:prstGeom>
          <a:solidFill>
            <a:srgbClr val="FFAAAA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92240" y="2468880"/>
            <a:ext cx="22860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</a:rPr>
              <a:t>📉  Canada, Singapore &amp; Qatar have very low restaurant density — prime expansion targets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583680" y="3310128"/>
            <a:ext cx="2011680" cy="18288"/>
          </a:xfrm>
          <a:prstGeom prst="rect">
            <a:avLst/>
          </a:prstGeom>
          <a:solidFill>
            <a:srgbClr val="FFAAAA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492240" y="3429000"/>
            <a:ext cx="22860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</a:rPr>
              <a:t>🚀  Low-competition markets offer less saturation and higher chance of market penetration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💡  Business Insight: Low-competition markets in Canada, Singapore, Qatar &amp; NZ provide strong Zomato expansion opportunities with minimal direct competition.</a:t>
            </a:r>
            <a:endParaRPr lang="en-US" sz="1000" dirty="0"/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BE19D99F-0237-09CD-2AF1-1723BAECCD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7176580"/>
              </p:ext>
            </p:extLst>
          </p:nvPr>
        </p:nvGraphicFramePr>
        <p:xfrm>
          <a:off x="0" y="868680"/>
          <a:ext cx="6400800" cy="37461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Year-Wise Restaurant Openings Trend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633" y="822960"/>
            <a:ext cx="9144000" cy="457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400800" y="960120"/>
            <a:ext cx="2468880" cy="3474720"/>
          </a:xfrm>
          <a:prstGeom prst="rect">
            <a:avLst/>
          </a:prstGeom>
          <a:solidFill>
            <a:srgbClr val="FDECEA"/>
          </a:solidFill>
          <a:ln w="12700">
            <a:solidFill>
              <a:srgbClr val="FF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9224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3744"/>
                </a:solidFill>
              </a:rPr>
              <a:t>KEY INSIGHTS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92240" y="1508760"/>
            <a:ext cx="22860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</a:rPr>
              <a:t>📈  Strong upward trend with peak in 2018 (1,102 openings)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583680" y="2350008"/>
            <a:ext cx="2011680" cy="18288"/>
          </a:xfrm>
          <a:prstGeom prst="rect">
            <a:avLst/>
          </a:prstGeom>
          <a:solidFill>
            <a:srgbClr val="FFAAAA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92240" y="2468880"/>
            <a:ext cx="22860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</a:rPr>
              <a:t>📊  Consistent growth from 2010–2018 indicates a booming global food industry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583680" y="3310128"/>
            <a:ext cx="2011680" cy="18288"/>
          </a:xfrm>
          <a:prstGeom prst="rect">
            <a:avLst/>
          </a:prstGeom>
          <a:solidFill>
            <a:srgbClr val="FFAAAA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492240" y="3429000"/>
            <a:ext cx="22860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</a:rPr>
              <a:t>⏰  Expansion window is now — industry momentum is strong and growing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💡  The consistent year-on-year growth signals increasing global food service demand — an ideal time for Zomato to accelerate its international expansion.</a:t>
            </a:r>
            <a:endParaRPr lang="en-US" sz="1000" dirty="0"/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00000000-0008-0000-04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5068560"/>
              </p:ext>
            </p:extLst>
          </p:nvPr>
        </p:nvGraphicFramePr>
        <p:xfrm>
          <a:off x="554355" y="1096970"/>
          <a:ext cx="5800725" cy="32956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 Distribution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66928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</a:rPr>
              <a:t>PRICE SEGMENT BREAKDOWN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69280" y="1463040"/>
            <a:ext cx="3200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669280" y="1463040"/>
            <a:ext cx="54864" cy="62179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806440" y="15179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</a:rPr>
              <a:t>Low (₹)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06440" y="17556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6,074 restaurants  (63.6%)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229600" y="1572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23744"/>
                </a:solidFill>
              </a:rPr>
              <a:t>63.6%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0" y="2212848"/>
            <a:ext cx="3200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669280" y="2212848"/>
            <a:ext cx="54864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806440" y="22677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</a:rPr>
              <a:t>Medium (₹₹)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06440" y="25054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2,893 restaurants  (30.3%)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229600" y="23225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A623"/>
                </a:solidFill>
              </a:rPr>
              <a:t>30.3%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724144" y="2974086"/>
            <a:ext cx="3200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5669280" y="2962656"/>
            <a:ext cx="54864" cy="6217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806440" y="30175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</a:rPr>
              <a:t>High (₹₹₹)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806440" y="32552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584 restaurants  (6.1%)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229600" y="30723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FA5"/>
                </a:solidFill>
              </a:rPr>
              <a:t>6.1%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806440" y="37673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229600" y="38221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💡  Low &amp; medium segments dominate (87%). Mid-range pricing is the sweet spot for new restaurant entry — high demand, lower barrier for customers.</a:t>
            </a:r>
            <a:endParaRPr lang="en-US" sz="1000" dirty="0"/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00000000-0008-0000-11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1329196"/>
              </p:ext>
            </p:extLst>
          </p:nvPr>
        </p:nvGraphicFramePr>
        <p:xfrm>
          <a:off x="191386" y="946298"/>
          <a:ext cx="4932400" cy="33742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Country-Wise Average Ratings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9224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6505575" y="1490091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6492240" y="17373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2240" y="19476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492240" y="2258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6492240" y="24871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53200" y="2697480"/>
            <a:ext cx="222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92240" y="3008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92240" y="32369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92240" y="34472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492240" y="37581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92240" y="3986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577840" y="42707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555555"/>
                </a:solidFill>
              </a:rPr>
              <a:t>💡 Philippines, Indonesia &amp; NZ lead in ratings — signaling strong restaurant quality and customer satisfaction in these low-competition markets.</a:t>
            </a:r>
            <a:endParaRPr lang="en-US" sz="1000" dirty="0"/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00000000-0008-0000-0B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4146752"/>
              </p:ext>
            </p:extLst>
          </p:nvPr>
        </p:nvGraphicFramePr>
        <p:xfrm>
          <a:off x="183855" y="1006792"/>
          <a:ext cx="5993661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3">
            <a:extLst>
              <a:ext uri="{FF2B5EF4-FFF2-40B4-BE49-F238E27FC236}">
                <a16:creationId xmlns:a16="http://schemas.microsoft.com/office/drawing/2014/main" id="{2A8DD43A-3F8E-1316-CA05-09CB5DAA29F3}"/>
              </a:ext>
            </a:extLst>
          </p:cNvPr>
          <p:cNvSpPr/>
          <p:nvPr/>
        </p:nvSpPr>
        <p:spPr>
          <a:xfrm>
            <a:off x="6414135" y="1028700"/>
            <a:ext cx="2468880" cy="3474720"/>
          </a:xfrm>
          <a:prstGeom prst="rect">
            <a:avLst/>
          </a:prstGeom>
          <a:solidFill>
            <a:srgbClr val="FDECEA"/>
          </a:solidFill>
          <a:ln w="12700">
            <a:solidFill>
              <a:srgbClr val="FF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200" b="1" dirty="0">
              <a:solidFill>
                <a:srgbClr val="00B050"/>
              </a:solidFill>
            </a:endParaRPr>
          </a:p>
          <a:p>
            <a:r>
              <a:rPr lang="en-US" sz="1200" b="1" dirty="0">
                <a:solidFill>
                  <a:srgbClr val="00B050"/>
                </a:solidFill>
              </a:rPr>
              <a:t>TOP MARKETS</a:t>
            </a:r>
            <a:endParaRPr lang="en-US" sz="1200" dirty="0">
              <a:solidFill>
                <a:srgbClr val="00B050"/>
              </a:solidFill>
            </a:endParaRPr>
          </a:p>
          <a:p>
            <a:endParaRPr lang="en-US" sz="1100" b="1" dirty="0">
              <a:solidFill>
                <a:srgbClr val="FF0000"/>
              </a:solidFill>
            </a:endParaRPr>
          </a:p>
          <a:p>
            <a:r>
              <a:rPr lang="en-US" sz="1100" b="1" dirty="0">
                <a:solidFill>
                  <a:srgbClr val="FF0000"/>
                </a:solidFill>
              </a:rPr>
              <a:t>🇵🇭 Philippines</a:t>
            </a:r>
          </a:p>
          <a:p>
            <a:r>
              <a:rPr lang="en-US" sz="1400" b="1" dirty="0">
                <a:solidFill>
                  <a:srgbClr val="00BFA5"/>
                </a:solidFill>
              </a:rPr>
              <a:t>4.5 ★</a:t>
            </a:r>
            <a:r>
              <a:rPr lang="en-US" sz="1400" i="1" dirty="0">
                <a:solidFill>
                  <a:srgbClr val="555555"/>
                </a:solidFill>
              </a:rPr>
              <a:t> </a:t>
            </a:r>
          </a:p>
          <a:p>
            <a:r>
              <a:rPr lang="en-US" sz="900" i="1" dirty="0">
                <a:solidFill>
                  <a:srgbClr val="555555"/>
                </a:solidFill>
              </a:rPr>
              <a:t>Highest avg rating — exceptional quality</a:t>
            </a:r>
          </a:p>
          <a:p>
            <a:endParaRPr lang="en-US" sz="1100" i="1" dirty="0">
              <a:solidFill>
                <a:srgbClr val="555555"/>
              </a:solidFill>
            </a:endParaRPr>
          </a:p>
          <a:p>
            <a:r>
              <a:rPr lang="en-US" sz="1100" b="1" dirty="0">
                <a:solidFill>
                  <a:srgbClr val="FF0000"/>
                </a:solidFill>
              </a:rPr>
              <a:t>🇳🇿 New Zealand</a:t>
            </a:r>
            <a:endParaRPr lang="en-US" sz="1100" dirty="0">
              <a:solidFill>
                <a:srgbClr val="FF0000"/>
              </a:solidFill>
            </a:endParaRPr>
          </a:p>
          <a:p>
            <a:r>
              <a:rPr lang="en-US" sz="1400" b="1" dirty="0">
                <a:solidFill>
                  <a:srgbClr val="00BFA5"/>
                </a:solidFill>
              </a:rPr>
              <a:t>4.3 ★</a:t>
            </a:r>
          </a:p>
          <a:p>
            <a:r>
              <a:rPr lang="en-US" sz="900" i="1" dirty="0">
                <a:solidFill>
                  <a:srgbClr val="555555"/>
                </a:solidFill>
              </a:rPr>
              <a:t>Strong customer satisfaction scores</a:t>
            </a:r>
          </a:p>
          <a:p>
            <a:endParaRPr lang="en-US" sz="900" i="1" dirty="0">
              <a:solidFill>
                <a:srgbClr val="555555"/>
              </a:solidFill>
            </a:endParaRPr>
          </a:p>
          <a:p>
            <a:r>
              <a:rPr lang="en-US" sz="900" b="1" dirty="0">
                <a:solidFill>
                  <a:srgbClr val="FF0000"/>
                </a:solidFill>
              </a:rPr>
              <a:t>🇮🇩 Indonesia</a:t>
            </a:r>
          </a:p>
          <a:p>
            <a:r>
              <a:rPr lang="en-US" sz="1400" b="1" dirty="0">
                <a:solidFill>
                  <a:srgbClr val="00BFA5"/>
                </a:solidFill>
              </a:rPr>
              <a:t>4.3 ★</a:t>
            </a:r>
            <a:endParaRPr lang="en-US" sz="1400" dirty="0"/>
          </a:p>
          <a:p>
            <a:r>
              <a:rPr lang="en-US" sz="900" i="1" dirty="0">
                <a:solidFill>
                  <a:srgbClr val="555555"/>
                </a:solidFill>
              </a:rPr>
              <a:t>Rapidly growing food culture</a:t>
            </a:r>
            <a:endParaRPr lang="en-US" sz="900" dirty="0"/>
          </a:p>
          <a:p>
            <a:endParaRPr lang="en-US" sz="900" dirty="0">
              <a:solidFill>
                <a:srgbClr val="FF0000"/>
              </a:solidFill>
            </a:endParaRPr>
          </a:p>
          <a:p>
            <a:endParaRPr lang="en-US" sz="900" dirty="0"/>
          </a:p>
          <a:p>
            <a:endParaRPr lang="en-US" sz="1400" b="1" dirty="0">
              <a:solidFill>
                <a:srgbClr val="00BFA5"/>
              </a:solidFill>
            </a:endParaRPr>
          </a:p>
          <a:p>
            <a:endParaRPr lang="en-US" sz="1400" dirty="0"/>
          </a:p>
          <a:p>
            <a:endParaRPr lang="en-US" sz="1100" b="1" dirty="0">
              <a:solidFill>
                <a:srgbClr val="00BFA5"/>
              </a:solidFill>
            </a:endParaRPr>
          </a:p>
          <a:p>
            <a:endParaRPr lang="en-US" sz="1100" dirty="0"/>
          </a:p>
          <a:p>
            <a:endParaRPr lang="en-US" sz="1100" dirty="0">
              <a:solidFill>
                <a:srgbClr val="FF0000"/>
              </a:solidFill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Delivery &amp; Table Booking — Impact on Ratings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400800" y="960120"/>
            <a:ext cx="2468880" cy="3474720"/>
          </a:xfrm>
          <a:prstGeom prst="rect">
            <a:avLst/>
          </a:prstGeom>
          <a:solidFill>
            <a:srgbClr val="FDECEA"/>
          </a:solidFill>
          <a:ln w="12700">
            <a:solidFill>
              <a:srgbClr val="FF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Text 4"/>
          <p:cNvSpPr/>
          <p:nvPr/>
        </p:nvSpPr>
        <p:spPr>
          <a:xfrm>
            <a:off x="649224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3744"/>
                </a:solidFill>
              </a:rPr>
              <a:t>KEY INSIGHTS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92240" y="1508760"/>
            <a:ext cx="22860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</a:rPr>
              <a:t>📱  Restaurants with online delivery rate 0.31 pts higher than those without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583680" y="2350008"/>
            <a:ext cx="2011680" cy="18288"/>
          </a:xfrm>
          <a:prstGeom prst="rect">
            <a:avLst/>
          </a:prstGeom>
          <a:solidFill>
            <a:srgbClr val="FFAAAA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92240" y="2468880"/>
            <a:ext cx="22860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</a:rPr>
              <a:t>🪑  Table booking availability boosts ratings by 0.35 pts on average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583680" y="3310128"/>
            <a:ext cx="2011680" cy="18288"/>
          </a:xfrm>
          <a:prstGeom prst="rect">
            <a:avLst/>
          </a:prstGeom>
          <a:solidFill>
            <a:srgbClr val="FFAAAA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492240" y="3429000"/>
            <a:ext cx="22860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</a:rPr>
              <a:t>⭐  Restaurants offering both services achieve the highest customer satisfaction scores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💡  Digital services are key differentiators. Zomato-listed restaurants that adopt both online delivery &amp; table booking consistently outperform peers in ratings.</a:t>
            </a:r>
            <a:endParaRPr lang="en-US" sz="1000" dirty="0"/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00000000-0008-0000-0F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8852952"/>
              </p:ext>
            </p:extLst>
          </p:nvPr>
        </p:nvGraphicFramePr>
        <p:xfrm>
          <a:off x="67383" y="935354"/>
          <a:ext cx="5837718" cy="34994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Performance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400800" y="960120"/>
            <a:ext cx="2468880" cy="3474720"/>
          </a:xfrm>
          <a:prstGeom prst="rect">
            <a:avLst/>
          </a:prstGeom>
          <a:solidFill>
            <a:srgbClr val="FDECEA"/>
          </a:solidFill>
          <a:ln w="12700">
            <a:solidFill>
              <a:srgbClr val="FF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9224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FA5"/>
                </a:solidFill>
              </a:rPr>
              <a:t>🏆 TOP CUISINES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92240" y="1389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5"/>
                </a:solidFill>
              </a:rPr>
              <a:t>African — 4.70 ★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92240" y="1709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5"/>
                </a:solidFill>
              </a:rPr>
              <a:t>German — 4.17 ★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92240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5"/>
                </a:solidFill>
              </a:rPr>
              <a:t>Australian — 4.10 ★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0" y="2395728"/>
            <a:ext cx="2011680" cy="18288"/>
          </a:xfrm>
          <a:prstGeom prst="rect">
            <a:avLst/>
          </a:prstGeom>
          <a:solidFill>
            <a:srgbClr val="FFAAAA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492240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3744"/>
                </a:solidFill>
              </a:rPr>
              <a:t>⚠️ LOW PERFORMERS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9224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3744"/>
                </a:solidFill>
              </a:rPr>
              <a:t>Afghani — 3.20 ★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9224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3744"/>
                </a:solidFill>
              </a:rPr>
              <a:t>Bakery — 3.10 ★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9224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3744"/>
                </a:solidFill>
              </a:rPr>
              <a:t>Drinks Only — 3.05 ★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92240" y="3794760"/>
            <a:ext cx="22860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55555"/>
                </a:solidFill>
              </a:rPr>
              <a:t>Cuisine selection directly impacts customer satisfaction and ratings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💡  Global premium cuisines (African, German, Australian) outperform regional fast-food options. Cuisine curation is a critical expansion strategy lever.</a:t>
            </a:r>
            <a:endParaRPr lang="en-US" sz="1000" dirty="0"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00000000-0008-0000-0E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025919"/>
              </p:ext>
            </p:extLst>
          </p:nvPr>
        </p:nvGraphicFramePr>
        <p:xfrm>
          <a:off x="87165" y="960120"/>
          <a:ext cx="6130756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Opportunity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AAAA"/>
                </a:solidFill>
              </a:rPr>
              <a:t>Countries with low competition &amp; high ratings — the ideal expansion matrix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1170432"/>
            <a:ext cx="2011680" cy="1627632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E23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1170432"/>
            <a:ext cx="2011680" cy="34747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11704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🇨🇦 Canada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" y="1554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DD"/>
                </a:solidFill>
              </a:rPr>
              <a:t>📍 Toronto, Vancouver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01752" y="18836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Competition: Low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1752" y="213969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AFFDD"/>
                </a:solidFill>
              </a:rPr>
              <a:t>Avg Rating: 3.51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478024"/>
            <a:ext cx="1371600" cy="201168"/>
          </a:xfrm>
          <a:prstGeom prst="rect">
            <a:avLst/>
          </a:prstGeom>
          <a:solidFill>
            <a:srgbClr val="E23744">
              <a:alpha val="30000"/>
            </a:srgbClr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4780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EXPAND HERE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441448" y="1170432"/>
            <a:ext cx="2011680" cy="1627632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441448" y="1170432"/>
            <a:ext cx="201168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441448" y="11704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🇸🇬 Singapore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1554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DD"/>
                </a:solidFill>
              </a:rPr>
              <a:t>📍 Singapore City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14600" y="18836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Competition: Low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14600" y="213969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AFFDD"/>
                </a:solidFill>
              </a:rPr>
              <a:t>Avg Rating: 3.57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61488" y="2478024"/>
            <a:ext cx="1371600" cy="201168"/>
          </a:xfrm>
          <a:prstGeom prst="rect">
            <a:avLst/>
          </a:prstGeom>
          <a:solidFill>
            <a:srgbClr val="00BFA5">
              <a:alpha val="30000"/>
            </a:srgbClr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61488" y="24780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EXPAND HERE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654296" y="1170432"/>
            <a:ext cx="2011680" cy="1627632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654296" y="1170432"/>
            <a:ext cx="201168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54296" y="11704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🇶🇦 Qatar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27448" y="1554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DD"/>
                </a:solidFill>
              </a:rPr>
              <a:t>📍 Doha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27448" y="18836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Competition: Very Low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27448" y="213969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AFFDD"/>
                </a:solidFill>
              </a:rPr>
              <a:t>Avg Rating: 3.55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74336" y="2478024"/>
            <a:ext cx="1371600" cy="201168"/>
          </a:xfrm>
          <a:prstGeom prst="rect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74336" y="24780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EXPAND HERE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867144" y="1170432"/>
            <a:ext cx="2011680" cy="1627632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867144" y="1170432"/>
            <a:ext cx="201168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867144" y="11704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🇮🇩 Indonesia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40296" y="15544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DD"/>
                </a:solidFill>
              </a:rPr>
              <a:t>📍 Jakarta, Bali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940296" y="18836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Competition: Medium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40296" y="213969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AFFDD"/>
                </a:solidFill>
              </a:rPr>
              <a:t>Avg Rating: 4.19 ★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87184" y="2478024"/>
            <a:ext cx="1371600" cy="201168"/>
          </a:xfrm>
          <a:prstGeom prst="rect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187184" y="24780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EXPAND HERE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28600" y="3044952"/>
            <a:ext cx="2011680" cy="1627632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228600" y="3044952"/>
            <a:ext cx="2011680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28600" y="30449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🇵🇭 Philippines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01752" y="3429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DD"/>
                </a:solidFill>
              </a:rPr>
              <a:t>📍 Manila, Cebu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01752" y="375818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Competition: Low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01752" y="401421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AFFDD"/>
                </a:solidFill>
              </a:rPr>
              <a:t>Avg Rating: 4.07 ★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8640" y="4352544"/>
            <a:ext cx="1371600" cy="201168"/>
          </a:xfrm>
          <a:prstGeom prst="rect">
            <a:avLst/>
          </a:prstGeom>
          <a:solidFill>
            <a:srgbClr val="8E44AD">
              <a:alpha val="30000"/>
            </a:srgbClr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48640" y="4352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EXPAND HERE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441448" y="3044952"/>
            <a:ext cx="2011680" cy="1627632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2441448" y="3044952"/>
            <a:ext cx="201168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441448" y="30449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🇳🇿 New Zealand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514600" y="3429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DD"/>
                </a:solidFill>
              </a:rPr>
              <a:t>📍 Auckland, Wellington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514600" y="375818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Competition: Very Low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514600" y="401421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AFFDD"/>
                </a:solidFill>
              </a:rPr>
              <a:t>Avg Rating: 4.26 ★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761488" y="4352544"/>
            <a:ext cx="1371600" cy="201168"/>
          </a:xfrm>
          <a:prstGeom prst="rect">
            <a:avLst/>
          </a:prstGeom>
          <a:solidFill>
            <a:srgbClr val="E67E22">
              <a:alpha val="30000"/>
            </a:srgbClr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2761488" y="4352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EXPAND HERE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654296" y="3044952"/>
            <a:ext cx="2011680" cy="1627632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4654296" y="3044952"/>
            <a:ext cx="2011680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654296" y="30449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🇹🇷 Turkey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727448" y="3429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DD"/>
                </a:solidFill>
              </a:rPr>
              <a:t>📍 Istanbul, Ankara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727448" y="375818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Competition: Low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727448" y="401421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AFFDD"/>
                </a:solidFill>
              </a:rPr>
              <a:t>Avg Rating: 4.30 ★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974336" y="4352544"/>
            <a:ext cx="1371600" cy="201168"/>
          </a:xfrm>
          <a:prstGeom prst="rect">
            <a:avLst/>
          </a:prstGeom>
          <a:solidFill>
            <a:srgbClr val="2980B9">
              <a:alpha val="30000"/>
            </a:srgbClr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974336" y="4352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EXPAND HERE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 — Top Restaurants by Votes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400800" y="960120"/>
            <a:ext cx="2468880" cy="3474720"/>
          </a:xfrm>
          <a:prstGeom prst="rect">
            <a:avLst/>
          </a:prstGeom>
          <a:solidFill>
            <a:srgbClr val="FDECEA"/>
          </a:solidFill>
          <a:ln w="12700">
            <a:solidFill>
              <a:srgbClr val="FF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92240" y="1051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3744"/>
                </a:solidFill>
              </a:rPr>
              <a:t>COMPETITIVE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E23744"/>
                </a:solidFill>
              </a:rPr>
              <a:t>INTEL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92240" y="1600200"/>
            <a:ext cx="22860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</a:rPr>
              <a:t>🏆  Toit leads with 10,934 votes — strong brand identity and customer loyalty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583680" y="2441448"/>
            <a:ext cx="2011680" cy="18288"/>
          </a:xfrm>
          <a:prstGeom prst="rect">
            <a:avLst/>
          </a:prstGeom>
          <a:solidFill>
            <a:srgbClr val="FFAAAA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92240" y="2560320"/>
            <a:ext cx="22860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</a:rPr>
              <a:t>📍  Top competitors are concentrated in Bangalore &amp; Kolkata — opportunity exists in other cities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583680" y="3401568"/>
            <a:ext cx="2011680" cy="18288"/>
          </a:xfrm>
          <a:prstGeom prst="rect">
            <a:avLst/>
          </a:prstGeom>
          <a:solidFill>
            <a:srgbClr val="FFAAAA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492240" y="3520440"/>
            <a:ext cx="22860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</a:rPr>
              <a:t>🍻  Gastropubs and multi-cuisine restaurants dominate the high-vote segment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💡  Benchmark strategy: Match top competitors' pricing, ambience, and service mix. Focus on underserved cities where these chains have no presence.</a:t>
            </a:r>
            <a:endParaRPr lang="en-US" sz="1000" dirty="0"/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00000000-0008-0000-0D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9837286"/>
              </p:ext>
            </p:extLst>
          </p:nvPr>
        </p:nvGraphicFramePr>
        <p:xfrm>
          <a:off x="-147638" y="960120"/>
          <a:ext cx="6548438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Dashboard &amp; Interactive Visualizations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4447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14600" y="14447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12280" y="14447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1993392"/>
            <a:ext cx="2743200" cy="1691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1993392"/>
            <a:ext cx="2560320" cy="1691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1993392"/>
            <a:ext cx="2834640" cy="1691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005072"/>
            <a:ext cx="2834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74320" y="4005072"/>
            <a:ext cx="2834640" cy="6400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84048" y="40873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</a:rPr>
              <a:t>🎛️ Interactive Slicers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434340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Filter by Country, Price Range, Cuisine, and Year for dynamic analysis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4005072"/>
            <a:ext cx="2834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246120" y="4005072"/>
            <a:ext cx="2834640" cy="6400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355848" y="40873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</a:rPr>
              <a:t>📈 Live Charts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55848" y="434340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Bar, pie, line charts update in real-time as slicers change selections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4005072"/>
            <a:ext cx="2834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217920" y="4005072"/>
            <a:ext cx="2834640" cy="6400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327648" y="40873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</a:rPr>
              <a:t>🔍 Drill-Down Insights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27648" y="434340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Pivot tables allow granular drill-down from country → city → restaurant level</a:t>
            </a:r>
            <a:endParaRPr lang="en-US" sz="9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F51732-2AB0-D720-E9D0-2E2F08232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86968"/>
            <a:ext cx="8778239" cy="306694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43200" cy="43891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🌍 Enter Low-Competition Markets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591056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</a:rPr>
              <a:t>Prioritize Canada, Singapore, Qatar, New Zealand — low restaurant density means less competition and more market share for early entrants.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82112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182112" y="1097280"/>
            <a:ext cx="2743200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73552" y="10972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💰 Medium-Premium Pricing Strategy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73552" y="1591056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</a:rPr>
              <a:t>Target the ₹₹–₹₹₹ price tier which covers 87% of demand. Avoid extreme premium positioning in new markets.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35624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135624" y="1097280"/>
            <a:ext cx="2743200" cy="4389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27064" y="10972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📱 Mandate Digital Services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27064" y="1591056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</a:rPr>
              <a:t>New listings should offer both online delivery AND table booking. Restaurants with both score significantly higher in ratings.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30175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28600" y="3017520"/>
            <a:ext cx="2743200" cy="43891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20040" y="30175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🍽️ Curate Premium Cuisine Mix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3511296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</a:rPr>
              <a:t>Feature African, German, and Australian cuisines in partner restaurants. High-rating cuisines drive better word-of-mouth and retention.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82112" y="30175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182112" y="3017520"/>
            <a:ext cx="2743200" cy="43891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73552" y="30175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🏙️ Target Urban &amp; Tourist Hubs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73552" y="3511296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</a:rPr>
              <a:t>Enter cities like Istanbul, Auckland, Doha, and Jakarta — high foot traffic, tourism, and digital adoption rates accelerate growth.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35624" y="30175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135624" y="3017520"/>
            <a:ext cx="2743200" cy="438912"/>
          </a:xfrm>
          <a:prstGeom prst="rect">
            <a:avLst/>
          </a:prstGeom>
          <a:solidFill>
            <a:srgbClr val="B71C2F"/>
          </a:solidFill>
          <a:ln w="12700">
            <a:solidFill>
              <a:srgbClr val="B71C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27064" y="30175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⭐ Prioritize Customer Experience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27064" y="3511296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</a:rPr>
              <a:t>Maintain strict quality standards. High ratings (4.0+) drive organic growth through Zomato's recommendation algorithm and user trust.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E23744">
              <a:alpha val="15000"/>
            </a:srgbClr>
          </a:solidFill>
          <a:ln w="12700">
            <a:solidFill>
              <a:srgbClr val="E237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E23744">
              <a:alpha val="12000"/>
            </a:srgbClr>
          </a:solidFill>
          <a:ln w="12700">
            <a:solidFill>
              <a:srgbClr val="E2374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65743" y="868680"/>
            <a:ext cx="8412480" cy="24231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2374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📌  India dominates Zomato's current restaurant base (90%+) — significant whitespace in international markets.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80467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r>
              <a:rPr lang="en-US" sz="1200" dirty="0">
                <a:solidFill>
                  <a:srgbClr val="FFFFFF"/>
                </a:solidFill>
              </a:rPr>
              <a:t>📌  Countries like Philippines, NZ and Indonesia offer high ratings with low competition — ideal for expansion.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80467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📌  Customer convenience (online delivery + table booking) is a proven driver of higher ratings and satisfaction.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80467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📌  Cuisine quality and pricing strategy are directly correlated with customer experience and platform success.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429000"/>
            <a:ext cx="8412480" cy="105156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3474720"/>
            <a:ext cx="813816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"Data-driven restaurant expansion strategies can significantly improve market success and customer engagement."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Acknowledgements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54864" cy="56692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3744"/>
                </a:solidFill>
              </a:rPr>
              <a:t>Dataset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Zomato Restaurant Dataset — Template provided by project guidelines (9,551 records, 22 attributes)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682496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" y="1682496"/>
            <a:ext cx="54864" cy="56692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7556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3744"/>
                </a:solidFill>
              </a:rPr>
              <a:t>Tools Used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9751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Microsoft Excel — Pivot Tables, VLOOKUP, IF Functions, Conditional Formatting, Charts, Dashboard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359152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" y="2359152"/>
            <a:ext cx="54864" cy="56692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243230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3744"/>
                </a:solidFill>
              </a:rPr>
              <a:t>Analysis Methods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Descriptive Analytics, Trend Analysis, Competitive Benchmarking, Segmentation Analysis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35808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0040" y="3035808"/>
            <a:ext cx="54864" cy="56692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3744"/>
                </a:solidFill>
              </a:rPr>
              <a:t>Visualization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3284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Bar Charts, Line Charts, Donut Charts, Clustered Bar Charts, Interactive Excel Dashboard with Slicers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712464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" y="3712464"/>
            <a:ext cx="54864" cy="56692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37856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3744"/>
                </a:solidFill>
              </a:rPr>
              <a:t>Acknowledgements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0050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Project Mentors, Data Analytics Team, Zomato Business Strategy Division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389120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0040" y="4389120"/>
            <a:ext cx="54864" cy="566928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" y="44622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3744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6817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Zomato Annual Reports, Food Industry Market Research, Global Restaurant Expansion Case Studies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1518</Words>
  <Application>Microsoft Office PowerPoint</Application>
  <PresentationFormat>On-screen Show (16:9)</PresentationFormat>
  <Paragraphs>268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Restaurant Expansion &amp; Market Analysis</dc:title>
  <dc:subject>PptxGenJS Presentation</dc:subject>
  <dc:creator>Zomato Analytics Team</dc:creator>
  <cp:lastModifiedBy>jp sharma</cp:lastModifiedBy>
  <cp:revision>5</cp:revision>
  <dcterms:created xsi:type="dcterms:W3CDTF">2026-05-18T16:57:19Z</dcterms:created>
  <dcterms:modified xsi:type="dcterms:W3CDTF">2026-05-19T17:45:04Z</dcterms:modified>
</cp:coreProperties>
</file>